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A1B3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E2050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CIRCADIAN 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Update Strategy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Artifacts, Priorities &amp; Design Direction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THREE-PHASE PATIENT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requires a fundamentally different design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3108960"/>
          </a:xfrm>
          <a:prstGeom prst="rect">
            <a:avLst/>
          </a:prstGeom>
          <a:solidFill>
            <a:srgbClr val="FFF8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06040" cy="73152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1: Onboarding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intention window.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all setup.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"Abuse" users here — they're motivated.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3108960"/>
          </a:xfrm>
          <a:prstGeom prst="rect">
            <a:avLst/>
          </a:prstGeom>
          <a:solidFill>
            <a:srgbClr val="EDFA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71600"/>
            <a:ext cx="2606040" cy="73152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459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4747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 Days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2044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friction.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→ Survey → Session.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effortless.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606040" cy="3108960"/>
          </a:xfrm>
          <a:prstGeom prst="rect">
            <a:avLst/>
          </a:prstGeom>
          <a:solidFill>
            <a:srgbClr val="EDF2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371600"/>
            <a:ext cx="2606040" cy="73152"/>
          </a:xfrm>
          <a:prstGeom prst="rect">
            <a:avLst/>
          </a:prstGeom>
          <a:solidFill>
            <a:srgbClr val="6C8EB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459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331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 Day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30632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completion.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the journey.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medical references.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651760"/>
            <a:ext cx="320040" cy="32004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65176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 DAY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to completion in minimum taps — the effortless daily loop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05840" cy="1005840"/>
          </a:xfrm>
          <a:prstGeom prst="ellipse">
            <a:avLst/>
          </a:prstGeom>
          <a:solidFill>
            <a:srgbClr val="FFF3D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ALARM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7-11 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45920" y="19659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377440" y="1463040"/>
            <a:ext cx="1005840" cy="1005840"/>
          </a:xfrm>
          <a:prstGeom prst="ellipse">
            <a:avLst/>
          </a:prstGeom>
          <a:solidFill>
            <a:srgbClr val="D6F5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19456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429000" y="19659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4160520" y="1463040"/>
            <a:ext cx="1005840" cy="1005840"/>
          </a:xfrm>
          <a:prstGeom prst="ellipse">
            <a:avLst/>
          </a:prstGeom>
          <a:solidFill>
            <a:srgbClr val="D6F5E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916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776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97764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plays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starts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212080" y="19659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5943600" y="1463040"/>
            <a:ext cx="1005840" cy="1005840"/>
          </a:xfrm>
          <a:prstGeom prst="ellipse">
            <a:avLst/>
          </a:prstGeom>
          <a:solidFill>
            <a:srgbClr val="FFF3D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916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607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THERAPY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76072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42-60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exposure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95160" y="1965960"/>
            <a:ext cx="3657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7726680" y="1463040"/>
            <a:ext cx="1005840" cy="1005840"/>
          </a:xfrm>
          <a:prstGeom prst="ellipse">
            <a:avLst/>
          </a:prstGeom>
          <a:solidFill>
            <a:srgbClr val="D6F5E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6916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438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75438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 dim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rgbClr val="1A1B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315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WINDOW RULES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3152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8288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AM — 11:00 AM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31520" y="4142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span: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828800" y="4142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minutes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31520" y="439826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Breaks: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1828800" y="43982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(1st half) / 15 min (2nd half)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303520" y="3520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303520" y="3886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tighter requirements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actual thresholds to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patient success.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CONTENT SELECTION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content types create different adherence risks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73152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Netflix-type Apps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selection takes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= dead time = adherence 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abandon before choosing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3840480" cy="73152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411480" cy="41148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002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Scrolling Apps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12064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engagement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fatigue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habit-forming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SOLUTIONS</a:t>
            </a:r>
            <a:endParaRPr lang="en-US" sz="1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605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session timer during content selection</a:t>
            </a:r>
            <a:endParaRPr lang="en-US" sz="10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416052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1188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Pre-connect apps during onboarding (Day 1)</a:t>
            </a:r>
            <a:endParaRPr lang="en-US" sz="10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1605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355080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switching between content types mid-session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ADHERENCE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threshold changes everything about session UX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spc="300" kern="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4754880" cy="457200"/>
          </a:xfrm>
          <a:prstGeom prst="rect">
            <a:avLst/>
          </a:prstGeom>
          <a:solidFill>
            <a:srgbClr val="2A2B4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554480"/>
            <a:ext cx="3328416" cy="4572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8" name="Shape 6"/>
          <p:cNvSpPr/>
          <p:nvPr/>
        </p:nvSpPr>
        <p:spPr>
          <a:xfrm>
            <a:off x="6986016" y="1417320"/>
            <a:ext cx="0" cy="73152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566160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20256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2057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 ZONE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68896" y="1627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743200"/>
            <a:ext cx="1600200" cy="1463040"/>
          </a:xfrm>
          <a:prstGeom prst="rect">
            <a:avLst/>
          </a:prstGeom>
          <a:solidFill>
            <a:srgbClr val="1E1F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2743200"/>
            <a:ext cx="16002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Old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4904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the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94960" y="2743200"/>
            <a:ext cx="1600200" cy="1463040"/>
          </a:xfrm>
          <a:prstGeom prst="rect">
            <a:avLst/>
          </a:prstGeom>
          <a:solidFill>
            <a:srgbClr val="1E1F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2743200"/>
            <a:ext cx="16002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prescribed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per session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2743200"/>
            <a:ext cx="1600200" cy="1463040"/>
          </a:xfrm>
          <a:prstGeom prst="rect">
            <a:avLst/>
          </a:prstGeom>
          <a:solidFill>
            <a:srgbClr val="1E1F3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2743200"/>
            <a:ext cx="1600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28803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Implication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sessions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real value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1E1F3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407408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97280" y="4407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BD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recommendation: Show a "minimum reached" celebration at 42 min, frame remaining 18 min as power-up territory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HOOKED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Eyal's habit model applied to daily light therapy sessions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3200400" cy="1371600"/>
          </a:xfrm>
          <a:prstGeom prst="rect">
            <a:avLst/>
          </a:prstGeom>
          <a:solidFill>
            <a:srgbClr val="FFEAE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1371600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alarm notification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7-11 AM window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0" y="1371600"/>
            <a:ext cx="3200400" cy="1371600"/>
          </a:xfrm>
          <a:prstGeom prst="rect">
            <a:avLst/>
          </a:prstGeom>
          <a:solidFill>
            <a:srgbClr val="EDFA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371600"/>
            <a:ext cx="54864" cy="13716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002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76072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app, quick survey,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start session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solidFill>
            <a:srgbClr val="FFF8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029200" y="3017520"/>
            <a:ext cx="54864" cy="1371600"/>
          </a:xfrm>
          <a:prstGeom prst="rect">
            <a:avLst/>
          </a:prstGeom>
          <a:solidFill>
            <a:srgbClr val="F5A62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3246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60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 REWARD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76072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enjoyment + progress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+ streak growth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solidFill>
            <a:srgbClr val="EDF2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017520"/>
            <a:ext cx="54864" cy="1371600"/>
          </a:xfrm>
          <a:prstGeom prst="rect">
            <a:avLst/>
          </a:prstGeom>
          <a:solidFill>
            <a:srgbClr val="6C8EB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461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C8E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64592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data, personalized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content preferences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14800" y="1920240"/>
            <a:ext cx="914400" cy="0"/>
          </a:xfrm>
          <a:prstGeom prst="line">
            <a:avLst/>
          </a:prstGeom>
          <a:noFill/>
          <a:ln w="19050">
            <a:solidFill>
              <a:srgbClr val="7A7A8E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6629400" y="2743200"/>
            <a:ext cx="0" cy="274320"/>
          </a:xfrm>
          <a:prstGeom prst="line">
            <a:avLst/>
          </a:prstGeom>
          <a:noFill/>
          <a:ln w="19050">
            <a:solidFill>
              <a:srgbClr val="7A7A8E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4114800" y="3566160"/>
            <a:ext cx="914400" cy="0"/>
          </a:xfrm>
          <a:prstGeom prst="line">
            <a:avLst/>
          </a:prstGeom>
          <a:noFill/>
          <a:ln w="19050">
            <a:solidFill>
              <a:srgbClr val="7A7A8E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2514600" y="2743200"/>
            <a:ext cx="0" cy="274320"/>
          </a:xfrm>
          <a:prstGeom prst="line">
            <a:avLst/>
          </a:prstGeom>
          <a:noFill/>
          <a:ln w="19050">
            <a:solidFill>
              <a:srgbClr val="7A7A8E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SUPERBETTER GAMIFICATION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 layers adapted from Jane McGonigal's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97480" cy="3200400"/>
          </a:xfrm>
          <a:prstGeom prst="rect">
            <a:avLst/>
          </a:prstGeom>
          <a:solidFill>
            <a:srgbClr val="1E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97480" cy="54864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600200"/>
            <a:ext cx="731520" cy="731520"/>
          </a:xfrm>
          <a:prstGeom prst="ellipse">
            <a:avLst/>
          </a:prstGeom>
          <a:solidFill>
            <a:srgbClr val="4ECDC4">
              <a:alpha val="8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QUEST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 session = binary success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today's session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yes/no tracking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bar, high reward feeling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97480" cy="3200400"/>
          </a:xfrm>
          <a:prstGeom prst="rect">
            <a:avLst/>
          </a:prstGeom>
          <a:solidFill>
            <a:srgbClr val="1E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71600"/>
            <a:ext cx="2697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Shape 10"/>
          <p:cNvSpPr/>
          <p:nvPr/>
        </p:nvSpPr>
        <p:spPr>
          <a:xfrm>
            <a:off x="4160520" y="1600200"/>
            <a:ext cx="731520" cy="731520"/>
          </a:xfrm>
          <a:prstGeom prst="ellipse">
            <a:avLst/>
          </a:prstGeom>
          <a:solidFill>
            <a:srgbClr val="F5A623">
              <a:alpha val="8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MILESTONES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engagement within sessions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2044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breaks during session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looking away alerts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session timing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697480" cy="3200400"/>
          </a:xfrm>
          <a:prstGeom prst="rect">
            <a:avLst/>
          </a:prstGeom>
          <a:solidFill>
            <a:srgbClr val="1E20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371600"/>
            <a:ext cx="26974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0" name="Shape 16"/>
          <p:cNvSpPr/>
          <p:nvPr/>
        </p:nvSpPr>
        <p:spPr>
          <a:xfrm>
            <a:off x="7040880" y="1600200"/>
            <a:ext cx="731520" cy="731520"/>
          </a:xfrm>
          <a:prstGeom prst="ellipse">
            <a:avLst/>
          </a:prstGeom>
          <a:solidFill>
            <a:srgbClr val="FF6B6B">
              <a:alpha val="80000"/>
            </a:srgbClr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POWER-UPS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788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that amplify treatment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40080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sleep schedule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time alignment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at optimal hour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COMPLETION: CINEMA DIM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light dimming when session ends — like movie theater lights coming 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1828800"/>
          </a:xfrm>
          <a:prstGeom prst="rect">
            <a:avLst/>
          </a:prstGeom>
          <a:solidFill>
            <a:srgbClr val="0F112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0-42 min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2286000"/>
            <a:ext cx="182880" cy="0"/>
          </a:xfrm>
          <a:prstGeom prst="line">
            <a:avLst/>
          </a:prstGeom>
          <a:noFill/>
          <a:ln w="12700">
            <a:solidFill>
              <a:srgbClr val="7A7A8E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2103120" y="1371600"/>
            <a:ext cx="1554480" cy="1828800"/>
          </a:xfrm>
          <a:prstGeom prst="rect">
            <a:avLst/>
          </a:prstGeom>
          <a:solidFill>
            <a:srgbClr val="0F112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10312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0" y="2286000"/>
            <a:ext cx="182880" cy="0"/>
          </a:xfrm>
          <a:prstGeom prst="line">
            <a:avLst/>
          </a:prstGeom>
          <a:noFill/>
          <a:ln w="12700">
            <a:solidFill>
              <a:srgbClr val="7A7A8E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3840480" y="1371600"/>
            <a:ext cx="1554480" cy="1828800"/>
          </a:xfrm>
          <a:prstGeom prst="rect">
            <a:avLst/>
          </a:prstGeom>
          <a:solidFill>
            <a:srgbClr val="0F1129"/>
          </a:solidFill>
          <a:ln/>
        </p:spPr>
      </p:sp>
      <p:sp>
        <p:nvSpPr>
          <p:cNvPr id="15" name="Shape 11"/>
          <p:cNvSpPr/>
          <p:nvPr/>
        </p:nvSpPr>
        <p:spPr>
          <a:xfrm>
            <a:off x="3840480" y="1371600"/>
            <a:ext cx="1554480" cy="18288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384048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4048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 Start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94960" y="2286000"/>
            <a:ext cx="182880" cy="0"/>
          </a:xfrm>
          <a:prstGeom prst="line">
            <a:avLst/>
          </a:prstGeom>
          <a:noFill/>
          <a:ln w="12700">
            <a:solidFill>
              <a:srgbClr val="7A7A8E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577840" y="1371600"/>
            <a:ext cx="1554480" cy="1828800"/>
          </a:xfrm>
          <a:prstGeom prst="rect">
            <a:avLst/>
          </a:prstGeom>
          <a:solidFill>
            <a:srgbClr val="0F1129"/>
          </a:solidFill>
          <a:ln/>
        </p:spPr>
      </p:sp>
      <p:sp>
        <p:nvSpPr>
          <p:cNvPr id="20" name="Shape 16"/>
          <p:cNvSpPr/>
          <p:nvPr/>
        </p:nvSpPr>
        <p:spPr>
          <a:xfrm>
            <a:off x="5577840" y="1371600"/>
            <a:ext cx="1554480" cy="182880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557784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min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57784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132320" y="2286000"/>
            <a:ext cx="182880" cy="0"/>
          </a:xfrm>
          <a:prstGeom prst="line">
            <a:avLst/>
          </a:prstGeom>
          <a:noFill/>
          <a:ln w="12700">
            <a:solidFill>
              <a:srgbClr val="7A7A8E"/>
            </a:solidFill>
            <a:prstDash val="dash"/>
          </a:ln>
        </p:spPr>
      </p:sp>
      <p:sp>
        <p:nvSpPr>
          <p:cNvPr id="24" name="Shape 20"/>
          <p:cNvSpPr/>
          <p:nvPr/>
        </p:nvSpPr>
        <p:spPr>
          <a:xfrm>
            <a:off x="7315200" y="1371600"/>
            <a:ext cx="1554480" cy="1828800"/>
          </a:xfrm>
          <a:prstGeom prst="rect">
            <a:avLst/>
          </a:prstGeom>
          <a:solidFill>
            <a:srgbClr val="0F1129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92024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3246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31520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EDFA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57200" y="4114800"/>
            <a:ext cx="54864" cy="7315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0" name="Text 25"/>
          <p:cNvSpPr/>
          <p:nvPr/>
        </p:nvSpPr>
        <p:spPr>
          <a:xfrm>
            <a:off x="6858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SuperBetter Insight: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42-minute mark is the "win" moment. Everything after is power-up territory — patients feel they've already succeeded, making the remaining time feel voluntary and empowering rather than obligatory.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PRIORITY ARTIFACTS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 next, in order of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7772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3533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End-to-End Journey 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full emotional arc alongside functional flow. Document the 3-phase framework with design rationale for each transition.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589520" y="1508760"/>
            <a:ext cx="91440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1508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77724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7772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2677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 Day Session Screens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selection, timer UX, break handling, and cinema-dim completion. This is where adherence lives or dies.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423160"/>
            <a:ext cx="914400" cy="3200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solidFill>
            <a:srgbClr val="FFF8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3182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Onboarding Gauntlet 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930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screens: app connections, alarm setup, device orientation. Front-load friction while motivation is highest.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337560"/>
            <a:ext cx="91440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3337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FF8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23360"/>
            <a:ext cx="54864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8016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2D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Outstanding Questions List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407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rules, conservative messaging strategy, and session window constraints need client sign-off before final screens.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4251960"/>
            <a:ext cx="91440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A1B3A">
              <a:alpha val="6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474720" y="2011680"/>
            <a:ext cx="21945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40487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user journey document for client review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90779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regular-day session screens with SuperBetter framing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41071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onboarding gauntlet prototype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3913632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7432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outstanding questions for midweek call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OS — Design Sprint Feb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Circadian OS — Next Update Strategy</dc:title>
  <dc:subject>PptxGenJS Presentation</dc:subject>
  <dc:creator>Aurora Pleguezuelo Hernandez</dc:creator>
  <cp:lastModifiedBy>Aurora Pleguezuelo Hernandez</cp:lastModifiedBy>
  <cp:revision>1</cp:revision>
  <dcterms:created xsi:type="dcterms:W3CDTF">2026-02-28T17:40:36Z</dcterms:created>
  <dcterms:modified xsi:type="dcterms:W3CDTF">2026-02-28T17:40:36Z</dcterms:modified>
</cp:coreProperties>
</file>